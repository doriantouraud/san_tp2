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57" r:id="rId5"/>
    <p:sldId id="258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B0D4A0-BDCB-2A6D-FC56-4441EAD5DA8B}" v="181" dt="2025-11-27T13:19:26.039"/>
    <p1510:client id="{5942D5D9-41F3-A405-5E63-8ED4A2F9DCD5}" v="285" dt="2025-11-27T14:10:51.055"/>
    <p1510:client id="{BA9240C5-E2E3-5C47-3619-D7223478A364}" v="219" dt="2025-11-27T13:25:34.337"/>
    <p1510:client id="{D9296E55-274B-3390-ADD6-C12E99CD5F50}" v="130" dt="2025-11-27T14:27:39.4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941B0-F4D5-4460-BCAD-F7E2B41A8257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222626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fr-FR"/>
              <a:t>TP SAN</a:t>
            </a:r>
            <a:br>
              <a:rPr lang="fr-FR"/>
            </a:br>
            <a:br>
              <a:rPr lang="fr-FR"/>
            </a:br>
            <a:r>
              <a:rPr lang="fr-FR"/>
              <a:t>Groupe signal_4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-1" y="2591"/>
            <a:ext cx="2286000" cy="170589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Dorian </a:t>
            </a:r>
            <a:r>
              <a:rPr lang="fr-FR" err="1"/>
              <a:t>Touraud</a:t>
            </a:r>
          </a:p>
          <a:p>
            <a:r>
              <a:rPr lang="fr-FR"/>
              <a:t>Oscar </a:t>
            </a:r>
            <a:r>
              <a:rPr lang="fr-FR" err="1"/>
              <a:t>Lauger</a:t>
            </a:r>
          </a:p>
        </p:txBody>
      </p:sp>
      <p:sp>
        <p:nvSpPr>
          <p:cNvPr id="5" name="Sous-titre 2">
            <a:extLst>
              <a:ext uri="{FF2B5EF4-FFF2-40B4-BE49-F238E27FC236}">
                <a16:creationId xmlns:a16="http://schemas.microsoft.com/office/drawing/2014/main" id="{63C34609-CADF-C9CF-424D-595432DC4532}"/>
              </a:ext>
            </a:extLst>
          </p:cNvPr>
          <p:cNvSpPr txBox="1">
            <a:spLocks/>
          </p:cNvSpPr>
          <p:nvPr/>
        </p:nvSpPr>
        <p:spPr>
          <a:xfrm>
            <a:off x="9146005" y="154992"/>
            <a:ext cx="3047999" cy="10341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28/11/2025</a:t>
            </a:r>
          </a:p>
          <a:p>
            <a:r>
              <a:rPr lang="fr-FR"/>
              <a:t>Passage à 13H30</a:t>
            </a:r>
          </a:p>
        </p:txBody>
      </p:sp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14641A-25A0-43D2-5E95-2AAD1B99C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560881"/>
            <a:ext cx="9795638" cy="11143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914400" indent="-914400" algn="ctr">
              <a:buAutoNum type="arabicPeriod"/>
            </a:pPr>
            <a:r>
              <a:rPr lang="en-US" sz="5200" dirty="0" err="1"/>
              <a:t>Affichage</a:t>
            </a:r>
            <a:r>
              <a:rPr lang="en-US" sz="5200" dirty="0"/>
              <a:t> du signal à classifier</a:t>
            </a:r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C56709-89EC-F769-346D-17542D044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7940" y="2752501"/>
            <a:ext cx="6085996" cy="2411998"/>
          </a:xfrm>
          <a:prstGeom prst="rect">
            <a:avLst/>
          </a:prstGeom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D34E741-AC8C-30D1-AA42-86BA5D85A1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142" y="2763707"/>
            <a:ext cx="6097202" cy="240079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57997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0F425-FC65-60E8-9575-CEC988437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2. </a:t>
            </a:r>
            <a:r>
              <a:rPr lang="en-US" dirty="0">
                <a:ea typeface="+mj-lt"/>
                <a:cs typeface="+mj-lt"/>
              </a:rPr>
              <a:t>Un </a:t>
            </a:r>
            <a:r>
              <a:rPr lang="en-US" dirty="0" err="1">
                <a:ea typeface="+mj-lt"/>
                <a:cs typeface="+mj-lt"/>
              </a:rPr>
              <a:t>spectre</a:t>
            </a:r>
            <a:r>
              <a:rPr lang="en-US" dirty="0">
                <a:ea typeface="+mj-lt"/>
                <a:cs typeface="+mj-lt"/>
              </a:rPr>
              <a:t> par </a:t>
            </a:r>
            <a:r>
              <a:rPr lang="en-US" dirty="0" err="1">
                <a:ea typeface="+mj-lt"/>
                <a:cs typeface="+mj-lt"/>
              </a:rPr>
              <a:t>voyelle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fr-FR" dirty="0">
                <a:ea typeface="+mj-lt"/>
                <a:cs typeface="+mj-lt"/>
              </a:rPr>
              <a:t>de</a:t>
            </a:r>
            <a:r>
              <a:rPr lang="en-US" dirty="0">
                <a:ea typeface="+mj-lt"/>
                <a:cs typeface="+mj-lt"/>
              </a:rPr>
              <a:t> la base </a:t>
            </a:r>
            <a:r>
              <a:rPr lang="en-US" dirty="0" err="1">
                <a:ea typeface="+mj-lt"/>
                <a:cs typeface="+mj-lt"/>
              </a:rPr>
              <a:t>d’apprentissage</a:t>
            </a:r>
            <a:endParaRPr lang="en-US" dirty="0" err="1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B935DF9-FD57-D9BA-CA62-A997B430F4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5479" b="-152"/>
          <a:stretch>
            <a:fillRect/>
          </a:stretch>
        </p:blipFill>
        <p:spPr>
          <a:xfrm>
            <a:off x="24958" y="1688576"/>
            <a:ext cx="4049948" cy="258180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ECCC392-7607-1B7E-24F8-C86BB9F57BF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90" r="35491"/>
          <a:stretch>
            <a:fillRect/>
          </a:stretch>
        </p:blipFill>
        <p:spPr>
          <a:xfrm>
            <a:off x="22544" y="4134888"/>
            <a:ext cx="4059059" cy="258251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93689A9-E67C-4E3A-A265-C0B1E0BE95A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7" r="35974"/>
          <a:stretch>
            <a:fillRect/>
          </a:stretch>
        </p:blipFill>
        <p:spPr>
          <a:xfrm>
            <a:off x="8127236" y="4133728"/>
            <a:ext cx="4009741" cy="257898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D339AA7-3526-03DC-E0C3-EE522817F31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36058" b="-524"/>
          <a:stretch>
            <a:fillRect/>
          </a:stretch>
        </p:blipFill>
        <p:spPr>
          <a:xfrm>
            <a:off x="8129648" y="1690987"/>
            <a:ext cx="4004645" cy="257900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2945353-5CD0-03C3-6141-17DD7AA3B64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35546" b="-399"/>
          <a:stretch>
            <a:fillRect/>
          </a:stretch>
        </p:blipFill>
        <p:spPr>
          <a:xfrm>
            <a:off x="4066026" y="1701058"/>
            <a:ext cx="4062807" cy="2576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96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28E6B-7BD0-A59C-E6D4-33B7B0C46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2" y="-217"/>
            <a:ext cx="12185736" cy="1346439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3. </a:t>
            </a:r>
            <a:r>
              <a:rPr lang="en-US" dirty="0" err="1">
                <a:ea typeface="+mj-lt"/>
                <a:cs typeface="+mj-lt"/>
              </a:rPr>
              <a:t>Présentation</a:t>
            </a:r>
            <a:r>
              <a:rPr lang="en-US" dirty="0">
                <a:ea typeface="+mj-lt"/>
                <a:cs typeface="+mj-lt"/>
              </a:rPr>
              <a:t> de la </a:t>
            </a:r>
            <a:r>
              <a:rPr lang="en-US" dirty="0" err="1">
                <a:ea typeface="+mj-lt"/>
                <a:cs typeface="+mj-lt"/>
              </a:rPr>
              <a:t>stratégie</a:t>
            </a:r>
            <a:r>
              <a:rPr lang="en-US" dirty="0">
                <a:ea typeface="+mj-lt"/>
                <a:cs typeface="+mj-lt"/>
              </a:rPr>
              <a:t> de classification mise </a:t>
            </a:r>
            <a:r>
              <a:rPr lang="en-US" dirty="0" err="1">
                <a:ea typeface="+mj-lt"/>
                <a:cs typeface="+mj-lt"/>
              </a:rPr>
              <a:t>en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œuvre</a:t>
            </a:r>
            <a:endParaRPr lang="en-US" dirty="0" err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AD596D-9C47-3EF5-3DDB-FE888D65C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058" y="1348505"/>
            <a:ext cx="6171939" cy="2490853"/>
          </a:xfrm>
          <a:prstGeom prst="rect">
            <a:avLst/>
          </a:prstGeom>
          <a:ln>
            <a:noFill/>
          </a:ln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6A8D4670-03A7-DB12-4415-698E8B3D42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161750" y="3843674"/>
            <a:ext cx="2590801" cy="2496856"/>
          </a:xfrm>
          <a:prstGeom prst="rect">
            <a:avLst/>
          </a:prstGeom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8CEA683-EEDE-511C-1268-C44BCD8B41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9532" y="1348505"/>
            <a:ext cx="2605674" cy="2490853"/>
          </a:xfrm>
          <a:prstGeom prst="rect">
            <a:avLst/>
          </a:prstGeom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F0A8E7D-A210-C97E-B844-3DBBED64CD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9841" y="3845882"/>
            <a:ext cx="2407347" cy="2490853"/>
          </a:xfrm>
          <a:prstGeom prst="rect">
            <a:avLst/>
          </a:prstGeom>
          <a:ln>
            <a:noFill/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FE9E7F3-D9F7-4F3A-E295-CDB7A3EA6B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5355" y="3848491"/>
            <a:ext cx="2511730" cy="250129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70437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FE1114-C8E6-868E-0BB0-B015E087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65" y="-4669"/>
            <a:ext cx="12196482" cy="1860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200" kern="1200">
                <a:latin typeface="+mj-lt"/>
                <a:ea typeface="+mj-ea"/>
                <a:cs typeface="+mj-cs"/>
              </a:rPr>
              <a:t>4. </a:t>
            </a:r>
            <a:r>
              <a:rPr lang="en-US" sz="5200" kern="1200" err="1">
                <a:latin typeface="+mj-lt"/>
                <a:ea typeface="+mj-ea"/>
                <a:cs typeface="+mj-cs"/>
              </a:rPr>
              <a:t>Présentation</a:t>
            </a:r>
            <a:r>
              <a:rPr lang="en-US" sz="5200" kern="1200">
                <a:latin typeface="+mj-lt"/>
                <a:ea typeface="+mj-ea"/>
                <a:cs typeface="+mj-cs"/>
              </a:rPr>
              <a:t> et </a:t>
            </a:r>
            <a:r>
              <a:rPr lang="en-US" sz="5200" kern="1200" err="1">
                <a:latin typeface="+mj-lt"/>
                <a:ea typeface="+mj-ea"/>
                <a:cs typeface="+mj-cs"/>
              </a:rPr>
              <a:t>analyse</a:t>
            </a:r>
            <a:r>
              <a:rPr lang="en-US" sz="5200" kern="1200">
                <a:latin typeface="+mj-lt"/>
                <a:ea typeface="+mj-ea"/>
                <a:cs typeface="+mj-cs"/>
              </a:rPr>
              <a:t> des </a:t>
            </a:r>
            <a:r>
              <a:rPr lang="en-US" sz="5200" kern="1200" err="1">
                <a:latin typeface="+mj-lt"/>
                <a:ea typeface="+mj-ea"/>
                <a:cs typeface="+mj-cs"/>
              </a:rPr>
              <a:t>résultats</a:t>
            </a:r>
            <a:endParaRPr lang="en-US" err="1"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D99EB9-E015-EA40-7A87-9F084DFA9A37}"/>
              </a:ext>
            </a:extLst>
          </p:cNvPr>
          <p:cNvSpPr txBox="1"/>
          <p:nvPr/>
        </p:nvSpPr>
        <p:spPr>
          <a:xfrm>
            <a:off x="6697803" y="4699075"/>
            <a:ext cx="509658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/>
              <a:t>signal_4.npz est </a:t>
            </a:r>
            <a:r>
              <a:rPr lang="en-US" sz="2400" b="1" err="1"/>
              <a:t>donc</a:t>
            </a:r>
            <a:r>
              <a:rPr lang="en-US" sz="2400" b="1"/>
              <a:t> un son "a"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D53022-F90C-5B9E-A704-94A5ACEFE492}"/>
              </a:ext>
            </a:extLst>
          </p:cNvPr>
          <p:cNvSpPr txBox="1"/>
          <p:nvPr/>
        </p:nvSpPr>
        <p:spPr>
          <a:xfrm>
            <a:off x="503183" y="4354000"/>
            <a:ext cx="6194611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latin typeface="Consolas"/>
              </a:rPr>
              <a:t>Moyenne de la distance par rapport à a = 0.06599999999999999</a:t>
            </a:r>
            <a:endParaRPr lang="en-US" sz="2400">
              <a:latin typeface="Aptos" panose="020B0004020202020204"/>
            </a:endParaRPr>
          </a:p>
          <a:p>
            <a:r>
              <a:rPr lang="en-US" sz="1400">
                <a:latin typeface="Consolas"/>
              </a:rPr>
              <a:t>Moyenne de la distance par rapport à e = 0.16621428571428573</a:t>
            </a:r>
            <a:endParaRPr lang="en-US" sz="2400">
              <a:latin typeface="Aptos" panose="020B0004020202020204"/>
            </a:endParaRPr>
          </a:p>
          <a:p>
            <a:r>
              <a:rPr lang="en-US" sz="1400">
                <a:latin typeface="Consolas"/>
              </a:rPr>
              <a:t>Moyenne de la distance par rapport à </a:t>
            </a:r>
            <a:r>
              <a:rPr lang="en-US" sz="1400" err="1">
                <a:latin typeface="Consolas"/>
              </a:rPr>
              <a:t>i</a:t>
            </a:r>
            <a:r>
              <a:rPr lang="en-US" sz="1400">
                <a:latin typeface="Consolas"/>
              </a:rPr>
              <a:t> = 0.4747142857142857</a:t>
            </a:r>
            <a:endParaRPr lang="en-US" sz="2400">
              <a:latin typeface="Aptos" panose="020B0004020202020204"/>
            </a:endParaRPr>
          </a:p>
          <a:p>
            <a:r>
              <a:rPr lang="en-US" sz="1400">
                <a:latin typeface="Consolas"/>
              </a:rPr>
              <a:t>Moyenne de la distance par rapport à o = 0.37214285714285716</a:t>
            </a:r>
            <a:endParaRPr lang="en-US" sz="2400">
              <a:latin typeface="Aptos" panose="020B0004020202020204"/>
            </a:endParaRPr>
          </a:p>
          <a:p>
            <a:r>
              <a:rPr lang="en-US" sz="1400">
                <a:latin typeface="Consolas"/>
              </a:rPr>
              <a:t>Moyenne de la distance par rapport à u = 0.3724285714285714</a:t>
            </a:r>
            <a:endParaRPr lang="en-US" sz="240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00D1743C-0CEB-AFF3-39F3-19C73AC9E7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42883" y="1343259"/>
            <a:ext cx="7295028" cy="3018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17668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Thème Office</vt:lpstr>
      <vt:lpstr>TP SAN  Groupe signal_4</vt:lpstr>
      <vt:lpstr>Affichage du signal à classifier</vt:lpstr>
      <vt:lpstr>2. Un spectre par voyelle de la base d’apprentissage</vt:lpstr>
      <vt:lpstr>3. Présentation de la stratégie de classification mise en œuvre</vt:lpstr>
      <vt:lpstr>4. Présentation et analyse des résultats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116</cp:revision>
  <dcterms:created xsi:type="dcterms:W3CDTF">2025-11-27T12:51:24Z</dcterms:created>
  <dcterms:modified xsi:type="dcterms:W3CDTF">2025-11-27T14:28:05Z</dcterms:modified>
</cp:coreProperties>
</file>